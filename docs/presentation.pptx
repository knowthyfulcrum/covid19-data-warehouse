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0" r:id="rId4"/>
    <p:sldId id="262" r:id="rId5"/>
    <p:sldId id="261" r:id="rId6"/>
    <p:sldId id="265" r:id="rId7"/>
    <p:sldId id="263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3"/>
  </p:normalViewPr>
  <p:slideViewPr>
    <p:cSldViewPr snapToGrid="0">
      <p:cViewPr varScale="1">
        <p:scale>
          <a:sx n="115" d="100"/>
          <a:sy n="115" d="100"/>
        </p:scale>
        <p:origin x="2296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9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5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2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6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1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1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7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08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8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1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D3384B11-1B0F-1BAF-2250-030A4FE206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087E6-C064-1618-F71B-1B3B30E58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389036"/>
            <a:ext cx="10177051" cy="4440278"/>
          </a:xfrm>
        </p:spPr>
        <p:txBody>
          <a:bodyPr anchor="t"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COVID-19 </a:t>
            </a:r>
            <a:br>
              <a:rPr lang="en-US" sz="6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chemeClr val="bg1"/>
                </a:solidFill>
              </a:rPr>
              <a:t>Global Pandemic Analytics Data Warehouse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866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8CF9-97E5-F48D-30DB-FAFA527D1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AC679FA3-77EA-2114-4FDD-7610D932D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ED11F3-9322-8017-2976-266403F51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508090"/>
            <a:ext cx="10177051" cy="1443373"/>
          </a:xfrm>
        </p:spPr>
        <p:txBody>
          <a:bodyPr anchor="t">
            <a:normAutofit/>
          </a:bodyPr>
          <a:lstStyle/>
          <a:p>
            <a:pPr algn="ctr"/>
            <a:r>
              <a:rPr lang="en-US" sz="5400" dirty="0"/>
              <a:t>Agenda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87F4F7-EE03-E47A-449D-4E00F6A3B73E}"/>
              </a:ext>
            </a:extLst>
          </p:cNvPr>
          <p:cNvSpPr txBox="1">
            <a:spLocks/>
          </p:cNvSpPr>
          <p:nvPr/>
        </p:nvSpPr>
        <p:spPr>
          <a:xfrm>
            <a:off x="528119" y="2459543"/>
            <a:ext cx="10177051" cy="37914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indent="-228600">
              <a:buFont typeface="+mj-lt"/>
              <a:buAutoNum type="arabicPeriod"/>
            </a:pPr>
            <a:r>
              <a:rPr lang="en-US" sz="2800" dirty="0"/>
              <a:t> The dataset and why it needed a data warehouse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800" dirty="0"/>
              <a:t> Design decisions and the final star schema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800" dirty="0"/>
              <a:t> Implementation and ETL process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800" dirty="0"/>
              <a:t> Real-world challenges and how I solved them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800" dirty="0"/>
              <a:t> Analytical capabilities with example queries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2800" dirty="0"/>
              <a:t> Conclusion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9108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A69F9-B7C9-83F0-F2FA-AF413F68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: Shape 307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99036-61AD-1D29-EDFB-22EAFBC84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004" y="1321622"/>
            <a:ext cx="3827768" cy="12964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Dataset </a:t>
            </a:r>
            <a:br>
              <a:rPr lang="en-US" sz="3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B2BF5C-5248-DCBF-1988-385C68080F9C}"/>
              </a:ext>
            </a:extLst>
          </p:cNvPr>
          <p:cNvSpPr txBox="1">
            <a:spLocks/>
          </p:cNvSpPr>
          <p:nvPr/>
        </p:nvSpPr>
        <p:spPr>
          <a:xfrm>
            <a:off x="521208" y="2578608"/>
            <a:ext cx="6309360" cy="3767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900" dirty="0">
                <a:latin typeface="+mn-lt"/>
                <a:ea typeface="+mn-ea"/>
                <a:cs typeface="+mn-cs"/>
              </a:rPr>
              <a:t>The source is from Our World in Data.</a:t>
            </a:r>
          </a:p>
          <a:p>
            <a:pPr>
              <a:spcAft>
                <a:spcPts val="600"/>
              </a:spcAft>
            </a:pPr>
            <a:r>
              <a:rPr lang="en-US" sz="2900" dirty="0">
                <a:latin typeface="+mn-lt"/>
                <a:ea typeface="+mn-ea"/>
                <a:cs typeface="+mn-cs"/>
              </a:rPr>
              <a:t>Had over 50,000 daily rows covering 200+ countries from 2020 to 2025. </a:t>
            </a:r>
          </a:p>
          <a:p>
            <a:pPr>
              <a:spcAft>
                <a:spcPts val="600"/>
              </a:spcAft>
            </a:pPr>
            <a:r>
              <a:rPr lang="en-US" sz="2900" dirty="0">
                <a:latin typeface="+mn-lt"/>
                <a:ea typeface="+mn-ea"/>
                <a:cs typeface="+mn-cs"/>
              </a:rPr>
              <a:t>It contains cases, deaths, excess mortality, hospital admissions, testing, vaccination rollout, reproduction rate, static country demographics, etc.</a:t>
            </a:r>
            <a:endParaRPr lang="en-US" sz="2900" dirty="0"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 descr="COVID in 2023: How health experts are handling new vaccines and guidelines">
            <a:extLst>
              <a:ext uri="{FF2B5EF4-FFF2-40B4-BE49-F238E27FC236}">
                <a16:creationId xmlns:a16="http://schemas.microsoft.com/office/drawing/2014/main" id="{4A381684-55FF-24F0-2FC5-FF7E4BE2A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1"/>
          <a:stretch>
            <a:fillRect/>
          </a:stretch>
        </p:blipFill>
        <p:spPr bwMode="auto">
          <a:xfrm>
            <a:off x="7351776" y="976157"/>
            <a:ext cx="4319305" cy="494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505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B0940-16DD-6E36-A235-61A42830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01BD0822-ECBD-4BE9-71D4-18E9FB1806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D36B61-89F6-8942-E2B0-59940959B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22" y="508090"/>
            <a:ext cx="11864898" cy="1443373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Star Schema Diagram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36C832-658C-D8FD-4DA4-F5E132B01CE3}"/>
              </a:ext>
            </a:extLst>
          </p:cNvPr>
          <p:cNvSpPr txBox="1">
            <a:spLocks/>
          </p:cNvSpPr>
          <p:nvPr/>
        </p:nvSpPr>
        <p:spPr>
          <a:xfrm>
            <a:off x="1" y="1260844"/>
            <a:ext cx="5356846" cy="54882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At the center: </a:t>
            </a:r>
          </a:p>
          <a:p>
            <a:r>
              <a:rPr lang="en-US" sz="2000" dirty="0"/>
              <a:t>Fact Daily COVID</a:t>
            </a:r>
          </a:p>
          <a:p>
            <a:r>
              <a:rPr lang="en-US" sz="2000" dirty="0"/>
              <a:t>It has exactly 50,000 rows, one per country per day. </a:t>
            </a:r>
          </a:p>
          <a:p>
            <a:endParaRPr lang="en-US" sz="2000" dirty="0"/>
          </a:p>
          <a:p>
            <a:r>
              <a:rPr lang="en-US" sz="2000" dirty="0"/>
              <a:t>Surrounding it:</a:t>
            </a:r>
          </a:p>
          <a:p>
            <a:r>
              <a:rPr lang="en-US" sz="2000" dirty="0"/>
              <a:t>Date (full calendar)</a:t>
            </a:r>
          </a:p>
          <a:p>
            <a:r>
              <a:rPr lang="en-US" sz="2000" dirty="0"/>
              <a:t>Location (countries + demographics)</a:t>
            </a:r>
          </a:p>
          <a:p>
            <a:endParaRPr lang="en-US" sz="2000" dirty="0"/>
          </a:p>
          <a:p>
            <a:r>
              <a:rPr lang="en-US" sz="2000" dirty="0"/>
              <a:t>Multiple dimensions for cases, deaths, hospital patients, vaccination, and testing. These metric groups are sparse and high-cardinality. </a:t>
            </a:r>
          </a:p>
          <a:p>
            <a:endParaRPr lang="en-US" sz="2000" dirty="0"/>
          </a:p>
          <a:p>
            <a:r>
              <a:rPr lang="en-US" sz="2000" dirty="0"/>
              <a:t>All relationships are enforced with foreign keys and a unique constraint on </a:t>
            </a:r>
          </a:p>
          <a:p>
            <a:r>
              <a:rPr lang="en-US" sz="2000" dirty="0"/>
              <a:t>date and location.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1C9DF-FCB4-BBB5-59FC-159DB9697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48" y="1260854"/>
            <a:ext cx="6835152" cy="559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8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73BD-CA19-7C0F-D1D1-C4AB7570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A79A5DB5-EE83-663E-FBF5-CB058EF6A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FDDB6E-C080-3328-2431-555F74A80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22" y="508090"/>
            <a:ext cx="11864898" cy="1443373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Design Goals &amp; Methodology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02B72BA-A935-B19B-A843-35C0B45A5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3" y="1825595"/>
            <a:ext cx="653089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Query performance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Simple star schema joins deliver sub-second response times even on 50,000 fact rows with multiple sparse metric groups.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Intuitive for users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Analysts can easily understand and write reports using country, date, and meaningful dimensions instead of a 60+ column flat table.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Handles extreme sparsity gracefully</a:t>
            </a:r>
            <a:r>
              <a:rPr lang="en-US" altLang="en-US" dirty="0">
                <a:latin typeface="Arial" panose="020B0604020202020204" pitchFamily="34" charset="0"/>
              </a:rPr>
              <a:t>: Degenerate dimensions (Case, Death, Vaccination, etc.) avoid billions of NULLs while preserving historical accuracy.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Fast aggregation</a:t>
            </a:r>
            <a:r>
              <a:rPr lang="en-US" altLang="en-US" dirty="0">
                <a:latin typeface="Arial" panose="020B0604020202020204" pitchFamily="34" charset="0"/>
              </a:rPr>
              <a:t>: Conformed dimensions + denormalized facts enable instant roll-ups (e.g., total cases by continent, monthly deaths per million) without complex subqueries.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45C6CB-6C47-A4D5-038D-63105B447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507" y="1137424"/>
            <a:ext cx="5218770" cy="518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9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A2FA4-32D3-814D-98B7-13C9CF61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0765E115-C88A-0FE3-4F51-DECB1E175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8041F-2E48-E6CB-5522-8799C021A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22" y="508090"/>
            <a:ext cx="11864898" cy="1443373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Analytical Power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A1790E-84B4-8E85-0ECA-77E97490CA35}"/>
              </a:ext>
            </a:extLst>
          </p:cNvPr>
          <p:cNvSpPr txBox="1">
            <a:spLocks/>
          </p:cNvSpPr>
          <p:nvPr/>
        </p:nvSpPr>
        <p:spPr>
          <a:xfrm>
            <a:off x="200723" y="1148576"/>
            <a:ext cx="5257557" cy="52013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The warehouse is now ready for serious public health analytics. </a:t>
            </a:r>
          </a:p>
          <a:p>
            <a:endParaRPr lang="en-US" sz="2800" dirty="0"/>
          </a:p>
          <a:p>
            <a:r>
              <a:rPr lang="en-US" sz="2800" dirty="0"/>
              <a:t>Here are just a few of the queries: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Top 15 countries by total cases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Case fatality rates ranked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Vaccination impact: cases before vs after 50% and 70% fully vaccinated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Highest excess mortality nations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Fastest vaccination rollouts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Hospital and ICU peak occupancy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C69BD-32FA-F278-2EBF-71A97B23C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721" y="1148576"/>
            <a:ext cx="4831624" cy="536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4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AFEBC-0889-E0BC-2722-085EC831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310181E8-E8DC-FB52-DDE2-C4033B930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979FF-11E5-0443-978B-2794C3055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22" y="508090"/>
            <a:ext cx="11864898" cy="1443373"/>
          </a:xfrm>
        </p:spPr>
        <p:txBody>
          <a:bodyPr anchor="t">
            <a:normAutofit/>
          </a:bodyPr>
          <a:lstStyle/>
          <a:p>
            <a:pPr algn="ctr"/>
            <a:r>
              <a:rPr lang="en-US" sz="3200"/>
              <a:t>Implementation in Azure SQL Database</a:t>
            </a:r>
            <a:endParaRPr lang="en-US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1A6A6CF-D815-4D2E-4F99-53B3B19730F6}"/>
              </a:ext>
            </a:extLst>
          </p:cNvPr>
          <p:cNvSpPr txBox="1">
            <a:spLocks/>
          </p:cNvSpPr>
          <p:nvPr/>
        </p:nvSpPr>
        <p:spPr>
          <a:xfrm>
            <a:off x="126382" y="1326994"/>
            <a:ext cx="5155622" cy="526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Steps: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Created a staging table matching the CSV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Built Date with a recursive CTE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Loaded static Dim_Location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Created degenerate dimensions using DISTINCT combinations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Final fact load using GROUP BY and MAX(</a:t>
            </a:r>
            <a:r>
              <a:rPr lang="en-US" sz="2800" dirty="0" err="1"/>
              <a:t>surrogate_key</a:t>
            </a:r>
            <a:r>
              <a:rPr lang="en-US" sz="2800" dirty="0"/>
              <a:t>):</a:t>
            </a:r>
          </a:p>
          <a:p>
            <a:endParaRPr lang="en-US" sz="2800" dirty="0"/>
          </a:p>
          <a:p>
            <a:r>
              <a:rPr lang="en-US" sz="2800" dirty="0"/>
              <a:t>This was the pattern that finally worked.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10346B-8062-8D3D-9212-2757EA0FF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883" y="1326994"/>
            <a:ext cx="5952236" cy="498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0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1F6D-BFF9-98A6-4FE5-2B9D53F2B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582DD40B-8AF4-8603-67FF-ED1CA96DD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DFAF8E-8A16-8D20-10EB-293982502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22" y="508090"/>
            <a:ext cx="11864898" cy="1443373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Challenges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129446-37D7-0768-4471-497E2ED901A7}"/>
              </a:ext>
            </a:extLst>
          </p:cNvPr>
          <p:cNvSpPr txBox="1">
            <a:spLocks/>
          </p:cNvSpPr>
          <p:nvPr/>
        </p:nvSpPr>
        <p:spPr>
          <a:xfrm>
            <a:off x="126382" y="1326994"/>
            <a:ext cx="5155622" cy="526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603967-8137-28BB-E171-65E01CE8E67A}"/>
              </a:ext>
            </a:extLst>
          </p:cNvPr>
          <p:cNvSpPr txBox="1">
            <a:spLocks/>
          </p:cNvSpPr>
          <p:nvPr/>
        </p:nvSpPr>
        <p:spPr>
          <a:xfrm>
            <a:off x="420913" y="1524000"/>
            <a:ext cx="9056916" cy="48259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1800" dirty="0">
                <a:latin typeface="+mn-lt"/>
                <a:ea typeface="+mn-ea"/>
                <a:cs typeface="+mn-cs"/>
              </a:rPr>
              <a:t>Real data is messy. I learned the hard way.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r>
              <a:rPr lang="en-US" sz="1800" dirty="0">
                <a:latin typeface="+mn-lt"/>
                <a:ea typeface="+mn-ea"/>
                <a:cs typeface="+mn-cs"/>
              </a:rPr>
              <a:t>I hit several issues: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  <a:ea typeface="+mn-ea"/>
              <a:cs typeface="+mn-cs"/>
            </a:endParaRPr>
          </a:p>
          <a:p>
            <a:pPr marL="285750" lvl="0" indent="-2286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Duplicate country-date rows</a:t>
            </a:r>
            <a:r>
              <a:rPr lang="en-US" altLang="en-US" sz="1800" b="0" dirty="0">
                <a:latin typeface="+mn-lt"/>
                <a:ea typeface="+mn-ea"/>
                <a:cs typeface="+mn-cs"/>
              </a:rPr>
              <a:t> </a:t>
            </a:r>
          </a:p>
          <a:p>
            <a:pPr lvl="0" fontAlgn="base">
              <a:spcAft>
                <a:spcPts val="600"/>
              </a:spcAft>
            </a:pPr>
            <a:r>
              <a:rPr lang="en-US" altLang="en-US" sz="1800" b="0" dirty="0">
                <a:latin typeface="+mn-lt"/>
                <a:ea typeface="+mn-ea"/>
                <a:cs typeface="+mn-cs"/>
              </a:rPr>
              <a:t>Problem: Same </a:t>
            </a:r>
            <a:r>
              <a:rPr lang="en-US" altLang="en-US" sz="1800" b="0" dirty="0" err="1">
                <a:latin typeface="+mn-lt"/>
                <a:ea typeface="+mn-ea"/>
                <a:cs typeface="+mn-cs"/>
              </a:rPr>
              <a:t>country+date</a:t>
            </a:r>
            <a:r>
              <a:rPr lang="en-US" altLang="en-US" sz="1800" b="0" dirty="0">
                <a:latin typeface="+mn-lt"/>
                <a:ea typeface="+mn-ea"/>
                <a:cs typeface="+mn-cs"/>
              </a:rPr>
              <a:t> appeared 2–3 times in staging </a:t>
            </a:r>
          </a:p>
          <a:p>
            <a:pPr lvl="0" fontAlgn="base">
              <a:spcAft>
                <a:spcPts val="600"/>
              </a:spcAft>
            </a:pPr>
            <a:r>
              <a:rPr lang="en-US" altLang="en-US" sz="1800" b="0" dirty="0">
                <a:latin typeface="+mn-lt"/>
                <a:ea typeface="+mn-ea"/>
                <a:cs typeface="+mn-cs"/>
              </a:rPr>
              <a:t>Fix: ROW_NUMBER() OVER (PARTITION BY country, date) → keep only row #1 </a:t>
            </a:r>
          </a:p>
          <a:p>
            <a:pPr lvl="0" indent="-2286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+mn-lt"/>
              <a:ea typeface="+mn-ea"/>
              <a:cs typeface="+mn-cs"/>
            </a:endParaRPr>
          </a:p>
          <a:p>
            <a:pPr marL="285750" lvl="0" indent="-2286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Unique constraint violations</a:t>
            </a:r>
            <a:r>
              <a:rPr lang="en-US" altLang="en-US" sz="1800" b="0" dirty="0">
                <a:latin typeface="+mn-lt"/>
                <a:ea typeface="+mn-ea"/>
                <a:cs typeface="+mn-cs"/>
              </a:rPr>
              <a:t> </a:t>
            </a:r>
          </a:p>
          <a:p>
            <a:pPr lvl="0" fontAlgn="base">
              <a:spcAft>
                <a:spcPts val="600"/>
              </a:spcAft>
            </a:pPr>
            <a:r>
              <a:rPr lang="en-US" altLang="en-US" sz="1800" b="0" dirty="0">
                <a:latin typeface="+mn-lt"/>
                <a:ea typeface="+mn-ea"/>
                <a:cs typeface="+mn-cs"/>
              </a:rPr>
              <a:t>Problem: Partial loads left old fact rows → new inserts collided </a:t>
            </a:r>
          </a:p>
          <a:p>
            <a:pPr lvl="0" fontAlgn="base">
              <a:spcAft>
                <a:spcPts val="600"/>
              </a:spcAft>
            </a:pPr>
            <a:r>
              <a:rPr lang="en-US" altLang="en-US" sz="1800" b="0" dirty="0">
                <a:latin typeface="+mn-lt"/>
                <a:ea typeface="+mn-ea"/>
                <a:cs typeface="+mn-cs"/>
              </a:rPr>
              <a:t>Fix: TRUNCATE Fact_Daily_COVID + GROUP BY </a:t>
            </a:r>
            <a:r>
              <a:rPr lang="en-US" altLang="en-US" sz="1800" b="0" dirty="0" err="1">
                <a:latin typeface="+mn-lt"/>
                <a:ea typeface="+mn-ea"/>
                <a:cs typeface="+mn-cs"/>
              </a:rPr>
              <a:t>date_id</a:t>
            </a:r>
            <a:r>
              <a:rPr lang="en-US" altLang="en-US" sz="1800" b="0" dirty="0">
                <a:latin typeface="+mn-lt"/>
                <a:ea typeface="+mn-ea"/>
                <a:cs typeface="+mn-cs"/>
              </a:rPr>
              <a:t>, </a:t>
            </a:r>
            <a:r>
              <a:rPr lang="en-US" altLang="en-US" sz="1800" b="0" dirty="0" err="1">
                <a:latin typeface="+mn-lt"/>
                <a:ea typeface="+mn-ea"/>
                <a:cs typeface="+mn-cs"/>
              </a:rPr>
              <a:t>location_id</a:t>
            </a:r>
            <a:r>
              <a:rPr lang="en-US" altLang="en-US" sz="1800" b="0" dirty="0">
                <a:latin typeface="+mn-lt"/>
                <a:ea typeface="+mn-ea"/>
                <a:cs typeface="+mn-cs"/>
              </a:rPr>
              <a:t> + MAX(</a:t>
            </a:r>
            <a:r>
              <a:rPr lang="en-US" altLang="en-US" sz="1800" b="0" dirty="0" err="1">
                <a:latin typeface="+mn-lt"/>
                <a:ea typeface="+mn-ea"/>
                <a:cs typeface="+mn-cs"/>
              </a:rPr>
              <a:t>surrogate_key</a:t>
            </a:r>
            <a:r>
              <a:rPr lang="en-US" altLang="en-US" sz="1800" b="0" dirty="0">
                <a:latin typeface="+mn-lt"/>
                <a:ea typeface="+mn-ea"/>
                <a:cs typeface="+mn-cs"/>
              </a:rPr>
              <a:t>) </a:t>
            </a:r>
          </a:p>
          <a:p>
            <a:pPr lvl="0" indent="-2286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latin typeface="+mn-lt"/>
              <a:ea typeface="+mn-ea"/>
              <a:cs typeface="+mn-cs"/>
            </a:endParaRPr>
          </a:p>
          <a:p>
            <a:pPr marL="285750" lvl="0" indent="-2286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NULL ≠ NULL join failures</a:t>
            </a:r>
            <a:r>
              <a:rPr lang="en-US" altLang="en-US" sz="1800" b="0" dirty="0">
                <a:latin typeface="+mn-lt"/>
                <a:ea typeface="+mn-ea"/>
                <a:cs typeface="+mn-cs"/>
              </a:rPr>
              <a:t> </a:t>
            </a:r>
          </a:p>
          <a:p>
            <a:pPr lvl="0" fontAlgn="base">
              <a:spcAft>
                <a:spcPts val="600"/>
              </a:spcAft>
            </a:pPr>
            <a:r>
              <a:rPr lang="en-US" altLang="en-US" sz="1800" b="0" dirty="0">
                <a:latin typeface="+mn-lt"/>
                <a:ea typeface="+mn-ea"/>
                <a:cs typeface="+mn-cs"/>
              </a:rPr>
              <a:t>Problem: Legitimate missing metrics broke dimension lookups </a:t>
            </a:r>
          </a:p>
          <a:p>
            <a:pPr lvl="0" fontAlgn="base">
              <a:spcAft>
                <a:spcPts val="600"/>
              </a:spcAft>
            </a:pPr>
            <a:r>
              <a:rPr lang="en-US" altLang="en-US" sz="1800" b="0" dirty="0">
                <a:latin typeface="+mn-lt"/>
                <a:ea typeface="+mn-ea"/>
                <a:cs typeface="+mn-cs"/>
              </a:rPr>
              <a:t>Fix: ISNULL(column, 0) = ISNULL(column, 0) in every join 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905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1C78-C1E0-A085-F7B6-47B26E0D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and red smoke colliding">
            <a:extLst>
              <a:ext uri="{FF2B5EF4-FFF2-40B4-BE49-F238E27FC236}">
                <a16:creationId xmlns:a16="http://schemas.microsoft.com/office/drawing/2014/main" id="{448FDFEA-A53B-7EE4-0253-9E3244E1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78E8CE-D235-8956-ACB6-F9232EACB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22" y="508090"/>
            <a:ext cx="11864898" cy="1443373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Conclusion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D4DD4A-A009-2E1D-A0C1-7D6556AFF730}"/>
              </a:ext>
            </a:extLst>
          </p:cNvPr>
          <p:cNvSpPr txBox="1">
            <a:spLocks/>
          </p:cNvSpPr>
          <p:nvPr/>
        </p:nvSpPr>
        <p:spPr>
          <a:xfrm>
            <a:off x="200723" y="1137424"/>
            <a:ext cx="6724184" cy="51896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To wrap up: </a:t>
            </a:r>
          </a:p>
          <a:p>
            <a:r>
              <a:rPr lang="en-US" sz="2800" dirty="0"/>
              <a:t>I successfully transformed a complex COVID-19 dataset into a production ready, 3NF star schema in Azure SQL. </a:t>
            </a:r>
          </a:p>
          <a:p>
            <a:endParaRPr lang="en-US" sz="2800" dirty="0"/>
          </a:p>
          <a:p>
            <a:r>
              <a:rPr lang="en-US" sz="2800" dirty="0"/>
              <a:t>Key achievements: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100% referential integrity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Handles data elegantly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Supports public health analytics</a:t>
            </a:r>
          </a:p>
          <a:p>
            <a:endParaRPr lang="en-US" sz="2800" dirty="0"/>
          </a:p>
          <a:p>
            <a:r>
              <a:rPr lang="en-US" sz="2800" dirty="0"/>
              <a:t>This warehouse can help answer critical questions like: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Which countries had the best outcomes?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 effective were vaccines?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Who suffered the most excess mortality?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6453730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586</Words>
  <Application>Microsoft Macintosh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Bierstadt</vt:lpstr>
      <vt:lpstr>Neue Haas Grotesk Text Pro</vt:lpstr>
      <vt:lpstr>GestaltVTI</vt:lpstr>
      <vt:lpstr>COVID-19  Global Pandemic Analytics Data Warehouse</vt:lpstr>
      <vt:lpstr>Agenda </vt:lpstr>
      <vt:lpstr>The Dataset  </vt:lpstr>
      <vt:lpstr>Star Schema Diagram</vt:lpstr>
      <vt:lpstr>Design Goals &amp; Methodology</vt:lpstr>
      <vt:lpstr>Analytical Power</vt:lpstr>
      <vt:lpstr>Implementation in Azure SQL Database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C</dc:creator>
  <cp:lastModifiedBy>J C</cp:lastModifiedBy>
  <cp:revision>3</cp:revision>
  <dcterms:created xsi:type="dcterms:W3CDTF">2025-12-09T23:48:16Z</dcterms:created>
  <dcterms:modified xsi:type="dcterms:W3CDTF">2025-12-10T03:05:16Z</dcterms:modified>
</cp:coreProperties>
</file>